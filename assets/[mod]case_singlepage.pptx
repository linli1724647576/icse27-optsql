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3"/>
  </p:notesMasterIdLst>
  <p:sldIdLst>
    <p:sldId id="256" r:id="rId2"/>
  </p:sldIdLst>
  <p:sldSz cx="12192000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4483"/>
    <p:restoredTop sz="94648"/>
  </p:normalViewPr>
  <p:slideViewPr>
    <p:cSldViewPr snapToGrid="0">
      <p:cViewPr>
        <p:scale>
          <a:sx n="60" d="100"/>
          <a:sy n="60" d="100"/>
        </p:scale>
        <p:origin x="3200" y="-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B2C8DA-E99B-8749-A6ED-B2168187FCFD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776538" y="1143000"/>
            <a:ext cx="1304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DA7833-33B0-5C48-A047-485DBB18696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776538" y="1143000"/>
            <a:ext cx="13049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DA7833-33B0-5C48-A047-485DBB18696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4713405"/>
            <a:ext cx="10363200" cy="10026815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126892"/>
            <a:ext cx="9144000" cy="6953434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177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21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7180114"/>
            <a:ext cx="10515600" cy="11980175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9273626"/>
            <a:ext cx="10515600" cy="6300091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0064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7666780"/>
            <a:ext cx="5181600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7666780"/>
            <a:ext cx="5181600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5693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533362"/>
            <a:ext cx="10515600" cy="55667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7060106"/>
            <a:ext cx="5157787" cy="34600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0520155"/>
            <a:ext cx="5157787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7060106"/>
            <a:ext cx="5183188" cy="34600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0520155"/>
            <a:ext cx="5183188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1752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209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935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920028"/>
            <a:ext cx="3932237" cy="67200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146734"/>
            <a:ext cx="6172200" cy="2046696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8640127"/>
            <a:ext cx="3932237" cy="1600690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523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920028"/>
            <a:ext cx="3932237" cy="6720099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146734"/>
            <a:ext cx="6172200" cy="20466969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8640127"/>
            <a:ext cx="3932237" cy="1600690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44395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050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1533356"/>
            <a:ext cx="2628900" cy="2440702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1533356"/>
            <a:ext cx="7734300" cy="244070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843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533362"/>
            <a:ext cx="10515600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7666780"/>
            <a:ext cx="10515600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6693734"/>
            <a:ext cx="27432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92C82-792B-384E-B3AD-A4B7D5FAC427}" type="datetimeFigureOut">
              <a:rPr kumimoji="1" lang="zh-CN" altLang="en-US" smtClean="0"/>
              <a:t>2026/6/30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6693734"/>
            <a:ext cx="41148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6693734"/>
            <a:ext cx="27432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38E3D-C5F0-6244-B38E-CA0B4142DBB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294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2986" y="2851137"/>
            <a:ext cx="1882247" cy="1924798"/>
            <a:chOff x="830517" y="2048933"/>
            <a:chExt cx="1882247" cy="1924798"/>
          </a:xfrm>
        </p:grpSpPr>
        <p:sp>
          <p:nvSpPr>
            <p:cNvPr id="4" name="文本框 3"/>
            <p:cNvSpPr txBox="1"/>
            <p:nvPr/>
          </p:nvSpPr>
          <p:spPr>
            <a:xfrm>
              <a:off x="830517" y="3327400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b="1" dirty="0">
                  <a:latin typeface="Comic Sans MS" panose="030F0702030302020204" pitchFamily="66" charset="0"/>
                </a:rPr>
                <a:t>Meta-Cognitive</a:t>
              </a:r>
            </a:p>
            <a:p>
              <a:pPr algn="ctr"/>
              <a:r>
                <a:rPr kumimoji="1" lang="en-US" altLang="zh-CN" b="1" dirty="0">
                  <a:latin typeface="Comic Sans MS" panose="030F0702030302020204" pitchFamily="66" charset="0"/>
                </a:rPr>
                <a:t> Controller</a:t>
              </a:r>
              <a:endParaRPr kumimoji="1" lang="zh-CN" altLang="en-US" b="1" dirty="0">
                <a:latin typeface="Comic Sans MS" panose="030F0702030302020204" pitchFamily="66" charset="0"/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6640" y="2048933"/>
              <a:ext cx="1270000" cy="1270000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4321894" y="673519"/>
            <a:ext cx="5205209" cy="369332"/>
            <a:chOff x="2411186" y="266733"/>
            <a:chExt cx="5205209" cy="369332"/>
          </a:xfrm>
        </p:grpSpPr>
        <p:sp>
          <p:nvSpPr>
            <p:cNvPr id="23" name="文本框 22"/>
            <p:cNvSpPr txBox="1"/>
            <p:nvPr/>
          </p:nvSpPr>
          <p:spPr>
            <a:xfrm>
              <a:off x="2411186" y="266733"/>
              <a:ext cx="11608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b="1" dirty="0">
                  <a:latin typeface="Comic Sans MS" panose="030F0702030302020204" pitchFamily="66" charset="0"/>
                </a:rPr>
                <a:t>Question</a:t>
              </a:r>
              <a:endParaRPr kumimoji="1" lang="zh-CN" altLang="en-US" b="1" dirty="0">
                <a:latin typeface="Comic Sans MS" panose="030F0702030302020204" pitchFamily="66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688396" y="266733"/>
              <a:ext cx="32752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Chlorine is in what type of bond?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963652" y="266733"/>
              <a:ext cx="6527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b="1" dirty="0">
                  <a:solidFill>
                    <a:schemeClr val="accent6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EASY</a:t>
              </a:r>
              <a:endParaRPr kumimoji="1"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651" y="848872"/>
            <a:ext cx="301871" cy="301871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4321890" y="1055422"/>
            <a:ext cx="259077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 b="1" dirty="0">
                <a:latin typeface="Comic Sans MS" panose="030F0702030302020204" pitchFamily="66" charset="0"/>
              </a:rPr>
              <a:t>Database</a:t>
            </a:r>
            <a:r>
              <a:rPr kumimoji="1" lang="zh-CN" altLang="en-US" sz="1600" b="1" dirty="0">
                <a:latin typeface="Comic Sans MS" panose="030F0702030302020204" pitchFamily="66" charset="0"/>
              </a:rPr>
              <a:t> </a:t>
            </a:r>
            <a:r>
              <a:rPr kumimoji="1" lang="en-US" altLang="zh-CN" sz="1600" b="1" dirty="0">
                <a:latin typeface="Comic Sans MS" panose="030F0702030302020204" pitchFamily="66" charset="0"/>
              </a:rPr>
              <a:t>Environment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7470125" y="1040442"/>
            <a:ext cx="2056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LARGE</a:t>
            </a:r>
            <a:r>
              <a:rPr kumimoji="1"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DATA</a:t>
            </a:r>
            <a:r>
              <a:rPr kumimoji="1"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SCALE</a:t>
            </a:r>
            <a:endParaRPr kumimoji="1"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4238165" y="673519"/>
            <a:ext cx="5530626" cy="793268"/>
          </a:xfrm>
          <a:prstGeom prst="roundRect">
            <a:avLst>
              <a:gd name="adj" fmla="val 494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9800110" y="899239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Task  Meta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cxnSp>
        <p:nvCxnSpPr>
          <p:cNvPr id="38" name="直线箭头连接符 37"/>
          <p:cNvCxnSpPr/>
          <p:nvPr/>
        </p:nvCxnSpPr>
        <p:spPr>
          <a:xfrm flipH="1">
            <a:off x="2121396" y="1165099"/>
            <a:ext cx="2061727" cy="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2730926" y="817557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Cognition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cxnSp>
        <p:nvCxnSpPr>
          <p:cNvPr id="40" name="直线箭头连接符 39"/>
          <p:cNvCxnSpPr>
            <a:endCxn id="47" idx="1"/>
          </p:cNvCxnSpPr>
          <p:nvPr/>
        </p:nvCxnSpPr>
        <p:spPr>
          <a:xfrm flipV="1">
            <a:off x="2121396" y="2106751"/>
            <a:ext cx="2116775" cy="157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2556140" y="1725054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Adaptation</a:t>
            </a:r>
          </a:p>
        </p:txBody>
      </p:sp>
      <p:sp>
        <p:nvSpPr>
          <p:cNvPr id="47" name="圆角矩形 46"/>
          <p:cNvSpPr/>
          <p:nvPr/>
        </p:nvSpPr>
        <p:spPr>
          <a:xfrm>
            <a:off x="4238165" y="1710111"/>
            <a:ext cx="5530626" cy="793268"/>
          </a:xfrm>
          <a:prstGeom prst="roundRect">
            <a:avLst>
              <a:gd name="adj" fmla="val 494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9800104" y="1817765"/>
            <a:ext cx="2497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Evidence-guided</a:t>
            </a:r>
          </a:p>
          <a:p>
            <a:r>
              <a:rPr kumimoji="1" lang="en-US" altLang="zh-CN" b="1" dirty="0">
                <a:latin typeface="Comic Sans MS" panose="030F0702030302020204" pitchFamily="66" charset="0"/>
              </a:rPr>
              <a:t>Schema Filter Agent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4237422" y="2746567"/>
            <a:ext cx="5530626" cy="2424467"/>
          </a:xfrm>
          <a:prstGeom prst="roundRect">
            <a:avLst>
              <a:gd name="adj" fmla="val 1744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9793854" y="3756335"/>
            <a:ext cx="1702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Initial SQL</a:t>
            </a:r>
          </a:p>
          <a:p>
            <a:r>
              <a:rPr kumimoji="1" lang="en-US" altLang="zh-CN" b="1" dirty="0">
                <a:latin typeface="Comic Sans MS" panose="030F0702030302020204" pitchFamily="66" charset="0"/>
              </a:rPr>
              <a:t>Builder Agent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cxnSp>
        <p:nvCxnSpPr>
          <p:cNvPr id="53" name="直线箭头连接符 52"/>
          <p:cNvCxnSpPr/>
          <p:nvPr/>
        </p:nvCxnSpPr>
        <p:spPr>
          <a:xfrm flipV="1">
            <a:off x="2074159" y="3311610"/>
            <a:ext cx="2163269" cy="694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椭圆 57"/>
          <p:cNvSpPr/>
          <p:nvPr/>
        </p:nvSpPr>
        <p:spPr>
          <a:xfrm>
            <a:off x="5684948" y="4437032"/>
            <a:ext cx="906467" cy="5218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椭圆 58"/>
          <p:cNvSpPr/>
          <p:nvPr/>
        </p:nvSpPr>
        <p:spPr>
          <a:xfrm>
            <a:off x="7463176" y="4427265"/>
            <a:ext cx="906467" cy="5218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5878640" y="4602106"/>
            <a:ext cx="175537" cy="175537"/>
          </a:xfrm>
          <a:prstGeom prst="ellipse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6115323" y="4733988"/>
            <a:ext cx="175537" cy="175537"/>
          </a:xfrm>
          <a:prstGeom prst="ellipse">
            <a:avLst/>
          </a:prstGeom>
          <a:pattFill prst="pct75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6180187" y="4500147"/>
            <a:ext cx="175537" cy="175537"/>
          </a:xfrm>
          <a:prstGeom prst="ellipse">
            <a:avLst/>
          </a:prstGeom>
          <a:pattFill prst="pct5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7828640" y="4600404"/>
            <a:ext cx="175537" cy="175537"/>
          </a:xfrm>
          <a:prstGeom prst="ellipse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01" name="组合 100"/>
          <p:cNvGrpSpPr/>
          <p:nvPr/>
        </p:nvGrpSpPr>
        <p:grpSpPr>
          <a:xfrm>
            <a:off x="4237428" y="5365027"/>
            <a:ext cx="5555235" cy="2087996"/>
            <a:chOff x="4218637" y="6253252"/>
            <a:chExt cx="5555235" cy="2087996"/>
          </a:xfrm>
        </p:grpSpPr>
        <p:sp>
          <p:nvSpPr>
            <p:cNvPr id="70" name="文本框 69"/>
            <p:cNvSpPr txBox="1"/>
            <p:nvPr/>
          </p:nvSpPr>
          <p:spPr>
            <a:xfrm>
              <a:off x="4243245" y="6297567"/>
              <a:ext cx="5530627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SELECT DISTINCT b.bond_type</a:t>
              </a:r>
              <a:r>
                <a:rPr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zh-CN" alt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FROM atom a</a:t>
              </a:r>
              <a:endParaRPr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zh-CN" alt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INNER JOIN connected c </a:t>
              </a:r>
              <a:endParaRPr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zh-CN" alt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ON a.atom_id = c.atom_id </a:t>
              </a:r>
              <a:endParaRPr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     </a:t>
              </a:r>
              <a:r>
                <a:rPr lang="zh-CN" alt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OR </a:t>
              </a:r>
              <a:endParaRPr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     </a:t>
              </a:r>
              <a:r>
                <a:rPr lang="zh-CN" alt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a.atom_id = c.atom_id2</a:t>
              </a:r>
              <a:endParaRPr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zh-CN" alt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INNER JOIN bond b ON c.bond_id = b.bond_id</a:t>
              </a:r>
              <a:endParaRPr lang="en-US" altLang="zh-CN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zh-CN" alt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WHERE a.element = 'cl'</a:t>
              </a:r>
              <a:r>
                <a:rPr lang="en-US" altLang="zh-CN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endParaRPr lang="zh-CN" altLang="en-US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1" name="圆角矩形 70"/>
            <p:cNvSpPr/>
            <p:nvPr/>
          </p:nvSpPr>
          <p:spPr>
            <a:xfrm>
              <a:off x="4218637" y="6253252"/>
              <a:ext cx="5530626" cy="2087996"/>
            </a:xfrm>
            <a:prstGeom prst="roundRect">
              <a:avLst>
                <a:gd name="adj" fmla="val 4945"/>
              </a:avLst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72" name="文本框 71"/>
          <p:cNvSpPr txBox="1"/>
          <p:nvPr/>
        </p:nvSpPr>
        <p:spPr>
          <a:xfrm>
            <a:off x="9854446" y="6247886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Base SQL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73" name="下箭头 72"/>
          <p:cNvSpPr/>
          <p:nvPr/>
        </p:nvSpPr>
        <p:spPr>
          <a:xfrm>
            <a:off x="6877575" y="1406854"/>
            <a:ext cx="217276" cy="348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下箭头 74"/>
          <p:cNvSpPr/>
          <p:nvPr/>
        </p:nvSpPr>
        <p:spPr>
          <a:xfrm>
            <a:off x="6894840" y="2474093"/>
            <a:ext cx="217276" cy="348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38386" y="2157069"/>
            <a:ext cx="1691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user question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04692" y="3286892"/>
            <a:ext cx="16914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user question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483112" y="2929913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Adaptation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6311285" y="1840695"/>
            <a:ext cx="1384386" cy="5402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Direct</a:t>
            </a:r>
          </a:p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Schema Linking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439235" y="1851519"/>
            <a:ext cx="1384386" cy="5402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Reverse</a:t>
            </a:r>
          </a:p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Schema Linking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139368" y="1836640"/>
            <a:ext cx="1450581" cy="5402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Value-grounded</a:t>
            </a:r>
          </a:p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Schema Linking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6078784" y="2944865"/>
            <a:ext cx="1384386" cy="5402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Skeleton-based</a:t>
            </a:r>
            <a:br>
              <a:rPr kumimoji="1" lang="en-US" altLang="zh-CN" sz="1400" dirty="0">
                <a:solidFill>
                  <a:schemeClr val="tx1"/>
                </a:solidFill>
              </a:rPr>
            </a:br>
            <a:r>
              <a:rPr kumimoji="1" lang="en-US" altLang="zh-CN" sz="1400" dirty="0">
                <a:solidFill>
                  <a:schemeClr val="tx1"/>
                </a:solidFill>
              </a:rPr>
              <a:t>Generation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448938" y="2942853"/>
            <a:ext cx="1384386" cy="5402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ICL-based</a:t>
            </a:r>
            <a:br>
              <a:rPr kumimoji="1" lang="en-US" altLang="zh-CN" sz="1400" dirty="0">
                <a:solidFill>
                  <a:schemeClr val="tx1"/>
                </a:solidFill>
              </a:rPr>
            </a:br>
            <a:r>
              <a:rPr kumimoji="1" lang="en-US" altLang="zh-CN" sz="1400" dirty="0">
                <a:solidFill>
                  <a:schemeClr val="tx1"/>
                </a:solidFill>
              </a:rPr>
              <a:t>Generation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7705375" y="2927974"/>
            <a:ext cx="1894272" cy="54021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Decomposition-based</a:t>
            </a:r>
          </a:p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Generation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4316978" y="2841375"/>
            <a:ext cx="5396771" cy="785373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平行四边形 41"/>
          <p:cNvSpPr/>
          <p:nvPr/>
        </p:nvSpPr>
        <p:spPr>
          <a:xfrm>
            <a:off x="6302945" y="3787192"/>
            <a:ext cx="1392726" cy="321960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Syntax Checker</a:t>
            </a:r>
            <a:endParaRPr kumimoji="1"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43" name="下箭头 42"/>
          <p:cNvSpPr/>
          <p:nvPr/>
        </p:nvSpPr>
        <p:spPr>
          <a:xfrm>
            <a:off x="6894840" y="3510949"/>
            <a:ext cx="217276" cy="262637"/>
          </a:xfrm>
          <a:prstGeom prst="downArrow">
            <a:avLst>
              <a:gd name="adj1" fmla="val 35103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5" name="曲线连接符 44"/>
          <p:cNvCxnSpPr/>
          <p:nvPr/>
        </p:nvCxnSpPr>
        <p:spPr>
          <a:xfrm rot="10800000" flipH="1">
            <a:off x="6340338" y="3754836"/>
            <a:ext cx="67340" cy="193336"/>
          </a:xfrm>
          <a:prstGeom prst="curvedConnector4">
            <a:avLst>
              <a:gd name="adj1" fmla="val -245824"/>
              <a:gd name="adj2" fmla="val 1351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5364710" y="3676066"/>
            <a:ext cx="8931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Repair Loop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2593861" y="1173405"/>
            <a:ext cx="1414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Complexity</a:t>
            </a:r>
          </a:p>
        </p:txBody>
      </p:sp>
      <p:cxnSp>
        <p:nvCxnSpPr>
          <p:cNvPr id="86" name="直线箭头连接符 85"/>
          <p:cNvCxnSpPr>
            <a:endCxn id="51" idx="1"/>
          </p:cNvCxnSpPr>
          <p:nvPr/>
        </p:nvCxnSpPr>
        <p:spPr>
          <a:xfrm flipV="1">
            <a:off x="2074154" y="3958801"/>
            <a:ext cx="2163268" cy="48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>
          <a:xfrm>
            <a:off x="2591597" y="3639595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Reflection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655122" y="3971734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Reason</a:t>
            </a:r>
          </a:p>
        </p:txBody>
      </p:sp>
      <p:sp>
        <p:nvSpPr>
          <p:cNvPr id="89" name="圆角矩形 88"/>
          <p:cNvSpPr/>
          <p:nvPr/>
        </p:nvSpPr>
        <p:spPr>
          <a:xfrm>
            <a:off x="4327967" y="4344327"/>
            <a:ext cx="5396771" cy="753189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0" name="下箭头 89"/>
          <p:cNvSpPr/>
          <p:nvPr/>
        </p:nvSpPr>
        <p:spPr>
          <a:xfrm>
            <a:off x="6890670" y="4138584"/>
            <a:ext cx="217276" cy="262637"/>
          </a:xfrm>
          <a:prstGeom prst="downArrow">
            <a:avLst>
              <a:gd name="adj1" fmla="val 35103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下箭头 75"/>
          <p:cNvSpPr/>
          <p:nvPr/>
        </p:nvSpPr>
        <p:spPr>
          <a:xfrm>
            <a:off x="6917708" y="4993633"/>
            <a:ext cx="217276" cy="348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文本框 90"/>
          <p:cNvSpPr txBox="1"/>
          <p:nvPr/>
        </p:nvSpPr>
        <p:spPr>
          <a:xfrm>
            <a:off x="5095621" y="4767222"/>
            <a:ext cx="6303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1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8349010" y="4739717"/>
            <a:ext cx="6303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2</a:t>
            </a:r>
          </a:p>
        </p:txBody>
      </p:sp>
      <p:pic>
        <p:nvPicPr>
          <p:cNvPr id="93" name="图片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732" y="4423448"/>
            <a:ext cx="301871" cy="301871"/>
          </a:xfrm>
          <a:prstGeom prst="rect">
            <a:avLst/>
          </a:prstGeom>
        </p:spPr>
      </p:pic>
      <p:cxnSp>
        <p:nvCxnSpPr>
          <p:cNvPr id="94" name="直线箭头连接符 93"/>
          <p:cNvCxnSpPr/>
          <p:nvPr/>
        </p:nvCxnSpPr>
        <p:spPr>
          <a:xfrm flipH="1">
            <a:off x="2156477" y="4739675"/>
            <a:ext cx="2061727" cy="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2766007" y="4392133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Cognition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2534371" y="4759711"/>
            <a:ext cx="16626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 &gt;&gt; Group 2</a:t>
            </a:r>
          </a:p>
        </p:txBody>
      </p:sp>
      <p:cxnSp>
        <p:nvCxnSpPr>
          <p:cNvPr id="97" name="曲线连接符 96"/>
          <p:cNvCxnSpPr>
            <a:stCxn id="64" idx="5"/>
            <a:endCxn id="76" idx="0"/>
          </p:cNvCxnSpPr>
          <p:nvPr/>
        </p:nvCxnSpPr>
        <p:spPr>
          <a:xfrm rot="16200000" flipH="1">
            <a:off x="6506347" y="4473640"/>
            <a:ext cx="343662" cy="696335"/>
          </a:xfrm>
          <a:prstGeom prst="curvedConnector3">
            <a:avLst>
              <a:gd name="adj1" fmla="val 50000"/>
            </a:avLst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4884609" y="12835862"/>
            <a:ext cx="18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Cost</a:t>
            </a:r>
            <a:r>
              <a:rPr kumimoji="1" lang="zh-CN" altLang="en-US" b="1" dirty="0">
                <a:latin typeface="Comic Sans MS" panose="030F0702030302020204" pitchFamily="66" charset="0"/>
              </a:rPr>
              <a:t> </a:t>
            </a:r>
            <a:r>
              <a:rPr kumimoji="1" lang="en-US" altLang="zh-CN" b="1" dirty="0">
                <a:solidFill>
                  <a:schemeClr val="accent6"/>
                </a:solidFill>
                <a:latin typeface="Comic Sans MS" panose="030F0702030302020204" pitchFamily="66" charset="0"/>
              </a:rPr>
              <a:t>Converged</a:t>
            </a:r>
            <a:endParaRPr kumimoji="1" lang="zh-CN" altLang="en-US" b="1" dirty="0">
              <a:solidFill>
                <a:schemeClr val="accent6"/>
              </a:solidFill>
              <a:latin typeface="Comic Sans MS" panose="030F0702030302020204" pitchFamily="66" charset="0"/>
            </a:endParaRPr>
          </a:p>
        </p:txBody>
      </p:sp>
      <p:sp>
        <p:nvSpPr>
          <p:cNvPr id="104" name="圆角矩形 103"/>
          <p:cNvSpPr/>
          <p:nvPr/>
        </p:nvSpPr>
        <p:spPr>
          <a:xfrm>
            <a:off x="4215268" y="8206209"/>
            <a:ext cx="5530626" cy="1112616"/>
          </a:xfrm>
          <a:prstGeom prst="roundRect">
            <a:avLst>
              <a:gd name="adj" fmla="val 494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文本框 104"/>
          <p:cNvSpPr txBox="1"/>
          <p:nvPr/>
        </p:nvSpPr>
        <p:spPr>
          <a:xfrm>
            <a:off x="9839756" y="8462450"/>
            <a:ext cx="2034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Explain Analyzer</a:t>
            </a:r>
          </a:p>
          <a:p>
            <a:r>
              <a:rPr kumimoji="1" lang="en-US" altLang="zh-CN" b="1" dirty="0">
                <a:latin typeface="Comic Sans MS" panose="030F0702030302020204" pitchFamily="66" charset="0"/>
              </a:rPr>
              <a:t>Agent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106" name="下箭头 105"/>
          <p:cNvSpPr/>
          <p:nvPr/>
        </p:nvSpPr>
        <p:spPr>
          <a:xfrm rot="16200000">
            <a:off x="6726198" y="8602254"/>
            <a:ext cx="217276" cy="34894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文本框 106"/>
          <p:cNvSpPr txBox="1"/>
          <p:nvPr/>
        </p:nvSpPr>
        <p:spPr>
          <a:xfrm>
            <a:off x="7545375" y="8393184"/>
            <a:ext cx="23166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push_down_filter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avoid_function_on_column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rewrite_or_to_union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4813451" y="8285470"/>
            <a:ext cx="18726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full_table_scan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temp_distinct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function_on_column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or_predicate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4206724" y="8593239"/>
            <a:ext cx="731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Risks</a:t>
            </a:r>
            <a:endParaRPr kumimoji="1" lang="zh-CN" altLang="en-US" sz="16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950984" y="8588216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Hints</a:t>
            </a:r>
            <a:endParaRPr kumimoji="1" lang="zh-CN" altLang="en-US" sz="16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1" name="下箭头 110"/>
          <p:cNvSpPr/>
          <p:nvPr/>
        </p:nvSpPr>
        <p:spPr>
          <a:xfrm>
            <a:off x="6841451" y="9216201"/>
            <a:ext cx="217276" cy="348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圆角矩形 111"/>
          <p:cNvSpPr/>
          <p:nvPr/>
        </p:nvSpPr>
        <p:spPr>
          <a:xfrm>
            <a:off x="4215268" y="9505807"/>
            <a:ext cx="5530626" cy="2988214"/>
          </a:xfrm>
          <a:prstGeom prst="roundRect">
            <a:avLst>
              <a:gd name="adj" fmla="val 494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3" name="文本框 112"/>
          <p:cNvSpPr txBox="1"/>
          <p:nvPr/>
        </p:nvSpPr>
        <p:spPr>
          <a:xfrm>
            <a:off x="9858065" y="10371783"/>
            <a:ext cx="1733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SQL Rewriter</a:t>
            </a:r>
          </a:p>
          <a:p>
            <a:r>
              <a:rPr kumimoji="1" lang="en-US" altLang="zh-CN" b="1" dirty="0">
                <a:latin typeface="Comic Sans MS" panose="030F0702030302020204" pitchFamily="66" charset="0"/>
              </a:rPr>
              <a:t>Agent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4231532" y="9505800"/>
            <a:ext cx="11095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with RAG</a:t>
            </a:r>
            <a:endParaRPr kumimoji="1" lang="zh-CN" altLang="en-US" sz="16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5240310" y="9475022"/>
            <a:ext cx="1925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push_down_filter</a:t>
            </a:r>
            <a:r>
              <a:rPr lang="zh-CN" alt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4360233" y="9813139"/>
            <a:ext cx="51531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SELECT DISTINCT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b.bond_type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FROM (</a:t>
            </a:r>
          </a:p>
          <a:p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	SELECT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atom_id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FROM atom</a:t>
            </a:r>
          </a:p>
          <a:p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	WHERE element = 'cl'</a:t>
            </a:r>
          </a:p>
          <a:p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 AS a</a:t>
            </a:r>
          </a:p>
          <a:p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INNER JOIN connected c </a:t>
            </a:r>
          </a:p>
          <a:p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	ON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a.atom_id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c.atom_id</a:t>
            </a:r>
            <a:endParaRPr lang="en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OR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a.atom_id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c.atom_id2</a:t>
            </a:r>
          </a:p>
          <a:p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INNER JOIN bond b </a:t>
            </a:r>
          </a:p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ON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c.bond_id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b.bond_id</a:t>
            </a:r>
            <a:r>
              <a:rPr lang="e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517" y="10255252"/>
            <a:ext cx="762861" cy="762861"/>
          </a:xfrm>
          <a:prstGeom prst="rect">
            <a:avLst/>
          </a:prstGeom>
        </p:spPr>
      </p:pic>
      <p:sp>
        <p:nvSpPr>
          <p:cNvPr id="118" name="下箭头 117"/>
          <p:cNvSpPr/>
          <p:nvPr/>
        </p:nvSpPr>
        <p:spPr>
          <a:xfrm rot="16200000">
            <a:off x="4078957" y="10351480"/>
            <a:ext cx="176444" cy="731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9" name="文本框 118"/>
          <p:cNvSpPr txBox="1"/>
          <p:nvPr/>
        </p:nvSpPr>
        <p:spPr>
          <a:xfrm>
            <a:off x="2630490" y="10998908"/>
            <a:ext cx="130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Knowledge</a:t>
            </a:r>
          </a:p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Base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3716299" y="10385045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latin typeface="Comic Sans MS" panose="030F0702030302020204" pitchFamily="66" charset="0"/>
              </a:rPr>
              <a:t>Samples</a:t>
            </a:r>
          </a:p>
        </p:txBody>
      </p:sp>
      <p:sp>
        <p:nvSpPr>
          <p:cNvPr id="121" name="圆角矩形 120"/>
          <p:cNvSpPr/>
          <p:nvPr/>
        </p:nvSpPr>
        <p:spPr>
          <a:xfrm>
            <a:off x="4180042" y="12674274"/>
            <a:ext cx="5530626" cy="648006"/>
          </a:xfrm>
          <a:prstGeom prst="roundRect">
            <a:avLst>
              <a:gd name="adj" fmla="val 494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文本框 121"/>
          <p:cNvSpPr txBox="1"/>
          <p:nvPr/>
        </p:nvSpPr>
        <p:spPr>
          <a:xfrm>
            <a:off x="9854447" y="12844114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Validator Agent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7951466" y="12835862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EX</a:t>
            </a:r>
            <a:r>
              <a:rPr kumimoji="1" lang="zh-CN" altLang="en-US" b="1" dirty="0">
                <a:latin typeface="Comic Sans MS" panose="030F0702030302020204" pitchFamily="66" charset="0"/>
              </a:rPr>
              <a:t> </a:t>
            </a:r>
            <a:r>
              <a:rPr kumimoji="1" lang="en-US" altLang="zh-CN" b="1" dirty="0">
                <a:solidFill>
                  <a:schemeClr val="accent6"/>
                </a:solidFill>
                <a:latin typeface="Comic Sans MS" panose="030F0702030302020204" pitchFamily="66" charset="0"/>
              </a:rPr>
              <a:t>Pass</a:t>
            </a:r>
            <a:endParaRPr kumimoji="1" lang="zh-CN" altLang="en-US" b="1" dirty="0">
              <a:solidFill>
                <a:schemeClr val="accent6"/>
              </a:solidFill>
              <a:latin typeface="Comic Sans MS" panose="030F0702030302020204" pitchFamily="66" charset="0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2579278" y="12650802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Convergence</a:t>
            </a:r>
          </a:p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Monitoring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126" name="下箭头 125"/>
          <p:cNvSpPr/>
          <p:nvPr/>
        </p:nvSpPr>
        <p:spPr>
          <a:xfrm>
            <a:off x="6836717" y="12384162"/>
            <a:ext cx="217276" cy="348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8" name="下箭头 127"/>
          <p:cNvSpPr/>
          <p:nvPr/>
        </p:nvSpPr>
        <p:spPr>
          <a:xfrm>
            <a:off x="6851455" y="7374558"/>
            <a:ext cx="276835" cy="8261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9" name="直线箭头连接符 128"/>
          <p:cNvCxnSpPr/>
          <p:nvPr/>
        </p:nvCxnSpPr>
        <p:spPr>
          <a:xfrm flipV="1">
            <a:off x="1963197" y="7837348"/>
            <a:ext cx="2163269" cy="694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文本框 129"/>
          <p:cNvSpPr txBox="1"/>
          <p:nvPr/>
        </p:nvSpPr>
        <p:spPr>
          <a:xfrm>
            <a:off x="2293730" y="7812630"/>
            <a:ext cx="1418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zh-CN" alt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</a:p>
        </p:txBody>
      </p:sp>
      <p:sp>
        <p:nvSpPr>
          <p:cNvPr id="131" name="文本框 130"/>
          <p:cNvSpPr txBox="1"/>
          <p:nvPr/>
        </p:nvSpPr>
        <p:spPr>
          <a:xfrm>
            <a:off x="2372150" y="7455651"/>
            <a:ext cx="1393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Adaptation</a:t>
            </a:r>
          </a:p>
        </p:txBody>
      </p:sp>
      <p:cxnSp>
        <p:nvCxnSpPr>
          <p:cNvPr id="133" name="直线连接符 132"/>
          <p:cNvCxnSpPr/>
          <p:nvPr/>
        </p:nvCxnSpPr>
        <p:spPr>
          <a:xfrm>
            <a:off x="4151075" y="7820704"/>
            <a:ext cx="56605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本框 136"/>
          <p:cNvSpPr txBox="1"/>
          <p:nvPr/>
        </p:nvSpPr>
        <p:spPr>
          <a:xfrm>
            <a:off x="9883336" y="7504296"/>
            <a:ext cx="1675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Optimization </a:t>
            </a:r>
          </a:p>
          <a:p>
            <a:pPr algn="ctr"/>
            <a:r>
              <a:rPr kumimoji="1" lang="en-US" altLang="zh-CN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Loop 1</a:t>
            </a:r>
            <a:endParaRPr kumimoji="1" lang="zh-CN" altLang="en-US" b="1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pic>
        <p:nvPicPr>
          <p:cNvPr id="138" name="图片 1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1523" y="12670218"/>
            <a:ext cx="301871" cy="301871"/>
          </a:xfrm>
          <a:prstGeom prst="rect">
            <a:avLst/>
          </a:prstGeom>
        </p:spPr>
      </p:pic>
      <p:cxnSp>
        <p:nvCxnSpPr>
          <p:cNvPr id="139" name="直线箭头连接符 138"/>
          <p:cNvCxnSpPr/>
          <p:nvPr/>
        </p:nvCxnSpPr>
        <p:spPr>
          <a:xfrm flipH="1">
            <a:off x="2091520" y="12986445"/>
            <a:ext cx="2061727" cy="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直线连接符 139"/>
          <p:cNvCxnSpPr/>
          <p:nvPr/>
        </p:nvCxnSpPr>
        <p:spPr>
          <a:xfrm>
            <a:off x="4110539" y="13783539"/>
            <a:ext cx="56605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文本框 140"/>
          <p:cNvSpPr txBox="1"/>
          <p:nvPr/>
        </p:nvSpPr>
        <p:spPr>
          <a:xfrm>
            <a:off x="9857165" y="13466525"/>
            <a:ext cx="1675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Optimization </a:t>
            </a:r>
          </a:p>
          <a:p>
            <a:pPr algn="ctr"/>
            <a:r>
              <a:rPr kumimoji="1" lang="en-US" altLang="zh-CN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Loop 2</a:t>
            </a:r>
            <a:endParaRPr kumimoji="1" lang="zh-CN" altLang="en-US" b="1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172" name="组合 171"/>
          <p:cNvGrpSpPr/>
          <p:nvPr/>
        </p:nvGrpSpPr>
        <p:grpSpPr>
          <a:xfrm>
            <a:off x="1999807" y="13403735"/>
            <a:ext cx="2163269" cy="696409"/>
            <a:chOff x="2046034" y="12266687"/>
            <a:chExt cx="2163269" cy="696409"/>
          </a:xfrm>
        </p:grpSpPr>
        <p:cxnSp>
          <p:nvCxnSpPr>
            <p:cNvPr id="142" name="直线箭头连接符 141"/>
            <p:cNvCxnSpPr/>
            <p:nvPr/>
          </p:nvCxnSpPr>
          <p:spPr>
            <a:xfrm flipV="1">
              <a:off x="2046034" y="12648378"/>
              <a:ext cx="2163269" cy="6941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3" name="文本框 142"/>
            <p:cNvSpPr txBox="1"/>
            <p:nvPr/>
          </p:nvSpPr>
          <p:spPr>
            <a:xfrm>
              <a:off x="2204911" y="12655319"/>
              <a:ext cx="19751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Converged =&gt; Next loop</a:t>
              </a: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2454993" y="12266687"/>
              <a:ext cx="1393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b="1" dirty="0">
                  <a:latin typeface="Comic Sans MS" panose="030F0702030302020204" pitchFamily="66" charset="0"/>
                </a:rPr>
                <a:t>Adaptation</a:t>
              </a:r>
            </a:p>
          </p:txBody>
        </p:sp>
      </p:grpSp>
      <p:sp>
        <p:nvSpPr>
          <p:cNvPr id="145" name="文本框 144"/>
          <p:cNvSpPr txBox="1"/>
          <p:nvPr/>
        </p:nvSpPr>
        <p:spPr>
          <a:xfrm>
            <a:off x="4812370" y="19616583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Cost</a:t>
            </a:r>
            <a:r>
              <a:rPr kumimoji="1" lang="zh-CN" altLang="en-US" b="1" dirty="0">
                <a:latin typeface="Comic Sans MS" panose="030F0702030302020204" pitchFamily="66" charset="0"/>
              </a:rPr>
              <a:t> </a:t>
            </a:r>
            <a:r>
              <a:rPr kumimoji="1" lang="en-US" altLang="zh-CN" b="1" dirty="0">
                <a:solidFill>
                  <a:schemeClr val="accent3"/>
                </a:solidFill>
                <a:latin typeface="Comic Sans MS" panose="030F0702030302020204" pitchFamily="66" charset="0"/>
              </a:rPr>
              <a:t>Skipped</a:t>
            </a:r>
            <a:endParaRPr kumimoji="1" lang="zh-CN" altLang="en-US" b="1" dirty="0">
              <a:solidFill>
                <a:schemeClr val="accent3"/>
              </a:solidFill>
              <a:latin typeface="Comic Sans MS" panose="030F0702030302020204" pitchFamily="66" charset="0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4180042" y="14014848"/>
            <a:ext cx="5530626" cy="1112616"/>
          </a:xfrm>
          <a:prstGeom prst="roundRect">
            <a:avLst>
              <a:gd name="adj" fmla="val 494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8" name="文本框 147"/>
          <p:cNvSpPr txBox="1"/>
          <p:nvPr/>
        </p:nvSpPr>
        <p:spPr>
          <a:xfrm>
            <a:off x="9846513" y="14340130"/>
            <a:ext cx="2034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Explain Analyzer</a:t>
            </a:r>
          </a:p>
          <a:p>
            <a:r>
              <a:rPr kumimoji="1" lang="en-US" altLang="zh-CN" b="1" dirty="0">
                <a:latin typeface="Comic Sans MS" panose="030F0702030302020204" pitchFamily="66" charset="0"/>
              </a:rPr>
              <a:t>Agent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149" name="下箭头 148"/>
          <p:cNvSpPr/>
          <p:nvPr/>
        </p:nvSpPr>
        <p:spPr>
          <a:xfrm rot="16200000">
            <a:off x="6565512" y="14418315"/>
            <a:ext cx="217276" cy="34894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文本框 149"/>
          <p:cNvSpPr txBox="1"/>
          <p:nvPr/>
        </p:nvSpPr>
        <p:spPr>
          <a:xfrm>
            <a:off x="7676075" y="14408472"/>
            <a:ext cx="1806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rewrite_or_to_union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4893877" y="14300751"/>
            <a:ext cx="1309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temp_distinct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or_predicate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4270100" y="14432449"/>
            <a:ext cx="731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Risks</a:t>
            </a:r>
            <a:endParaRPr kumimoji="1" lang="zh-CN" altLang="en-US" sz="16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7014360" y="14427426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Hints</a:t>
            </a:r>
            <a:endParaRPr kumimoji="1" lang="zh-CN" altLang="en-US" sz="16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4" name="下箭头 153"/>
          <p:cNvSpPr/>
          <p:nvPr/>
        </p:nvSpPr>
        <p:spPr>
          <a:xfrm>
            <a:off x="6823183" y="15055418"/>
            <a:ext cx="217276" cy="348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圆角矩形 154"/>
          <p:cNvSpPr/>
          <p:nvPr/>
        </p:nvSpPr>
        <p:spPr>
          <a:xfrm>
            <a:off x="4175489" y="15340053"/>
            <a:ext cx="5530626" cy="4034942"/>
          </a:xfrm>
          <a:prstGeom prst="roundRect">
            <a:avLst>
              <a:gd name="adj" fmla="val 494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6" name="文本框 155"/>
          <p:cNvSpPr txBox="1"/>
          <p:nvPr/>
        </p:nvSpPr>
        <p:spPr>
          <a:xfrm>
            <a:off x="9839756" y="17164804"/>
            <a:ext cx="1733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SQL Rewriter</a:t>
            </a:r>
          </a:p>
          <a:p>
            <a:r>
              <a:rPr kumimoji="1" lang="en-US" altLang="zh-CN" b="1" dirty="0">
                <a:latin typeface="Comic Sans MS" panose="030F0702030302020204" pitchFamily="66" charset="0"/>
              </a:rPr>
              <a:t>Agent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4294217" y="15345017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no RAG</a:t>
            </a:r>
            <a:endParaRPr kumimoji="1" lang="zh-CN" altLang="en-US" sz="16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5258722" y="15314130"/>
            <a:ext cx="2301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rewrite_or_to_union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9" name="图片 1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8249" y="16164946"/>
            <a:ext cx="762861" cy="762861"/>
          </a:xfrm>
          <a:prstGeom prst="rect">
            <a:avLst/>
          </a:prstGeom>
        </p:spPr>
      </p:pic>
      <p:sp>
        <p:nvSpPr>
          <p:cNvPr id="160" name="下箭头 159"/>
          <p:cNvSpPr/>
          <p:nvPr/>
        </p:nvSpPr>
        <p:spPr>
          <a:xfrm rot="16200000">
            <a:off x="3969249" y="16291654"/>
            <a:ext cx="176444" cy="731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1" name="文本框 160"/>
          <p:cNvSpPr txBox="1"/>
          <p:nvPr/>
        </p:nvSpPr>
        <p:spPr>
          <a:xfrm>
            <a:off x="2630490" y="16889462"/>
            <a:ext cx="130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Knowledge</a:t>
            </a:r>
          </a:p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Base</a:t>
            </a:r>
          </a:p>
        </p:txBody>
      </p:sp>
      <p:sp>
        <p:nvSpPr>
          <p:cNvPr id="162" name="文本框 161"/>
          <p:cNvSpPr txBox="1"/>
          <p:nvPr/>
        </p:nvSpPr>
        <p:spPr>
          <a:xfrm>
            <a:off x="3599449" y="16294739"/>
            <a:ext cx="9797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solidFill>
                  <a:srgbClr val="C00000"/>
                </a:solidFill>
                <a:latin typeface="Comic Sans MS" panose="030F0702030302020204" pitchFamily="66" charset="0"/>
              </a:rPr>
              <a:t>No Sample</a:t>
            </a:r>
          </a:p>
        </p:txBody>
      </p:sp>
      <p:sp>
        <p:nvSpPr>
          <p:cNvPr id="163" name="圆角矩形 162"/>
          <p:cNvSpPr/>
          <p:nvPr/>
        </p:nvSpPr>
        <p:spPr>
          <a:xfrm>
            <a:off x="4194106" y="19456733"/>
            <a:ext cx="5530626" cy="628705"/>
          </a:xfrm>
          <a:prstGeom prst="roundRect">
            <a:avLst>
              <a:gd name="adj" fmla="val 494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文本框 163"/>
          <p:cNvSpPr txBox="1"/>
          <p:nvPr/>
        </p:nvSpPr>
        <p:spPr>
          <a:xfrm>
            <a:off x="9811612" y="19589725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Validator Agent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7989937" y="19616583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EX</a:t>
            </a:r>
            <a:r>
              <a:rPr kumimoji="1" lang="zh-CN" altLang="en-US" b="1" dirty="0">
                <a:latin typeface="Comic Sans MS" panose="030F0702030302020204" pitchFamily="66" charset="0"/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  <a:latin typeface="Comic Sans MS" panose="030F0702030302020204" pitchFamily="66" charset="0"/>
              </a:rPr>
              <a:t>Fail</a:t>
            </a:r>
            <a:endParaRPr kumimoji="1" lang="zh-CN" altLang="en-US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67" name="下箭头 166"/>
          <p:cNvSpPr/>
          <p:nvPr/>
        </p:nvSpPr>
        <p:spPr>
          <a:xfrm>
            <a:off x="6832600" y="19267639"/>
            <a:ext cx="217276" cy="348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8" name="文本框 167"/>
          <p:cNvSpPr txBox="1"/>
          <p:nvPr/>
        </p:nvSpPr>
        <p:spPr>
          <a:xfrm>
            <a:off x="3946924" y="1651808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❌</a:t>
            </a:r>
            <a:endParaRPr kumimoji="1" lang="zh-CN" altLang="en-US" dirty="0"/>
          </a:p>
        </p:txBody>
      </p:sp>
      <p:sp>
        <p:nvSpPr>
          <p:cNvPr id="169" name="文本框 168"/>
          <p:cNvSpPr txBox="1"/>
          <p:nvPr/>
        </p:nvSpPr>
        <p:spPr>
          <a:xfrm>
            <a:off x="4375294" y="15749352"/>
            <a:ext cx="51684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SELECT DISTINCT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b.bond_type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FROM atom a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JOIN connected c 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ON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c.atom_id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a.atom_id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JOIN bond b 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ON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b.bond_id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c.bond_id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a.element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'cl'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UNION ALL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SELECT DISTINCT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b.bond_type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FROM atom a 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JOIN connected c 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ON c.atom_id2 =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a.atom_id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JOIN bond b ON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b.bond_id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c.bond_id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a.element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'cl'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1" name="下箭头 170"/>
          <p:cNvSpPr/>
          <p:nvPr/>
        </p:nvSpPr>
        <p:spPr>
          <a:xfrm>
            <a:off x="6799052" y="13232550"/>
            <a:ext cx="276835" cy="8261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7" name="直线连接符 176"/>
          <p:cNvCxnSpPr/>
          <p:nvPr/>
        </p:nvCxnSpPr>
        <p:spPr>
          <a:xfrm>
            <a:off x="4130055" y="20520540"/>
            <a:ext cx="56605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文本框 177"/>
          <p:cNvSpPr txBox="1"/>
          <p:nvPr/>
        </p:nvSpPr>
        <p:spPr>
          <a:xfrm>
            <a:off x="9876681" y="20203526"/>
            <a:ext cx="1675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Optimization </a:t>
            </a:r>
          </a:p>
          <a:p>
            <a:pPr algn="ctr"/>
            <a:r>
              <a:rPr kumimoji="1" lang="en-US" altLang="zh-CN" b="1" dirty="0">
                <a:solidFill>
                  <a:schemeClr val="accent1"/>
                </a:solidFill>
                <a:latin typeface="Comic Sans MS" panose="030F0702030302020204" pitchFamily="66" charset="0"/>
              </a:rPr>
              <a:t>Loop 3</a:t>
            </a:r>
            <a:endParaRPr kumimoji="1" lang="zh-CN" altLang="en-US" b="1" dirty="0">
              <a:solidFill>
                <a:schemeClr val="accent1"/>
              </a:solidFill>
              <a:latin typeface="Comic Sans MS" panose="030F0702030302020204" pitchFamily="66" charset="0"/>
            </a:endParaRPr>
          </a:p>
        </p:txBody>
      </p:sp>
      <p:sp>
        <p:nvSpPr>
          <p:cNvPr id="179" name="下箭头 178"/>
          <p:cNvSpPr/>
          <p:nvPr/>
        </p:nvSpPr>
        <p:spPr>
          <a:xfrm>
            <a:off x="6818568" y="19969551"/>
            <a:ext cx="276835" cy="8261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80" name="组合 179"/>
          <p:cNvGrpSpPr/>
          <p:nvPr/>
        </p:nvGrpSpPr>
        <p:grpSpPr>
          <a:xfrm>
            <a:off x="2181081" y="20124339"/>
            <a:ext cx="2026517" cy="696409"/>
            <a:chOff x="2204911" y="12266687"/>
            <a:chExt cx="2026517" cy="696409"/>
          </a:xfrm>
        </p:grpSpPr>
        <p:sp>
          <p:nvSpPr>
            <p:cNvPr id="182" name="文本框 181"/>
            <p:cNvSpPr txBox="1"/>
            <p:nvPr/>
          </p:nvSpPr>
          <p:spPr>
            <a:xfrm>
              <a:off x="2204911" y="12655319"/>
              <a:ext cx="20265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Semantically inconsistent</a:t>
              </a:r>
            </a:p>
          </p:txBody>
        </p:sp>
        <p:sp>
          <p:nvSpPr>
            <p:cNvPr id="183" name="文本框 182"/>
            <p:cNvSpPr txBox="1"/>
            <p:nvPr/>
          </p:nvSpPr>
          <p:spPr>
            <a:xfrm>
              <a:off x="2454993" y="12266687"/>
              <a:ext cx="1393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b="1" dirty="0">
                  <a:latin typeface="Comic Sans MS" panose="030F0702030302020204" pitchFamily="66" charset="0"/>
                </a:rPr>
                <a:t>Adaptation</a:t>
              </a:r>
            </a:p>
          </p:txBody>
        </p:sp>
      </p:grpSp>
      <p:cxnSp>
        <p:nvCxnSpPr>
          <p:cNvPr id="184" name="直线箭头连接符 183"/>
          <p:cNvCxnSpPr/>
          <p:nvPr/>
        </p:nvCxnSpPr>
        <p:spPr>
          <a:xfrm flipV="1">
            <a:off x="2121390" y="20512965"/>
            <a:ext cx="2012444" cy="2341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93" name="组合 192"/>
          <p:cNvGrpSpPr/>
          <p:nvPr/>
        </p:nvGrpSpPr>
        <p:grpSpPr>
          <a:xfrm>
            <a:off x="86339" y="12226042"/>
            <a:ext cx="1882247" cy="1924798"/>
            <a:chOff x="830517" y="2048933"/>
            <a:chExt cx="1882247" cy="1924798"/>
          </a:xfrm>
        </p:grpSpPr>
        <p:sp>
          <p:nvSpPr>
            <p:cNvPr id="194" name="文本框 193"/>
            <p:cNvSpPr txBox="1"/>
            <p:nvPr/>
          </p:nvSpPr>
          <p:spPr>
            <a:xfrm>
              <a:off x="830517" y="3327400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b="1" dirty="0">
                  <a:latin typeface="Comic Sans MS" panose="030F0702030302020204" pitchFamily="66" charset="0"/>
                </a:rPr>
                <a:t>Meta-Cognitive</a:t>
              </a:r>
            </a:p>
            <a:p>
              <a:pPr algn="ctr"/>
              <a:r>
                <a:rPr kumimoji="1" lang="en-US" altLang="zh-CN" b="1" dirty="0">
                  <a:latin typeface="Comic Sans MS" panose="030F0702030302020204" pitchFamily="66" charset="0"/>
                </a:rPr>
                <a:t> Controller</a:t>
              </a:r>
              <a:endParaRPr kumimoji="1" lang="zh-CN" altLang="en-US" b="1" dirty="0">
                <a:latin typeface="Comic Sans MS" panose="030F0702030302020204" pitchFamily="66" charset="0"/>
              </a:endParaRPr>
            </a:p>
          </p:txBody>
        </p:sp>
        <p:pic>
          <p:nvPicPr>
            <p:cNvPr id="195" name="图片 19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6640" y="2048933"/>
              <a:ext cx="1270000" cy="1270000"/>
            </a:xfrm>
            <a:prstGeom prst="rect">
              <a:avLst/>
            </a:prstGeom>
          </p:spPr>
        </p:pic>
      </p:grpSp>
      <p:cxnSp>
        <p:nvCxnSpPr>
          <p:cNvPr id="196" name="直线箭头连接符 195"/>
          <p:cNvCxnSpPr/>
          <p:nvPr/>
        </p:nvCxnSpPr>
        <p:spPr>
          <a:xfrm>
            <a:off x="1026856" y="4804101"/>
            <a:ext cx="607" cy="7203658"/>
          </a:xfrm>
          <a:prstGeom prst="straightConnector1">
            <a:avLst/>
          </a:prstGeom>
          <a:ln>
            <a:solidFill>
              <a:srgbClr val="D4237A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圆角矩形 198"/>
          <p:cNvSpPr/>
          <p:nvPr/>
        </p:nvSpPr>
        <p:spPr>
          <a:xfrm>
            <a:off x="4127025" y="20801695"/>
            <a:ext cx="5530626" cy="1112616"/>
          </a:xfrm>
          <a:prstGeom prst="roundRect">
            <a:avLst>
              <a:gd name="adj" fmla="val 4945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0" name="文本框 199"/>
          <p:cNvSpPr txBox="1"/>
          <p:nvPr/>
        </p:nvSpPr>
        <p:spPr>
          <a:xfrm>
            <a:off x="9790592" y="21085627"/>
            <a:ext cx="2034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Explain Analyzer</a:t>
            </a:r>
          </a:p>
          <a:p>
            <a:r>
              <a:rPr kumimoji="1" lang="en-US" altLang="zh-CN" b="1" dirty="0">
                <a:latin typeface="Comic Sans MS" panose="030F0702030302020204" pitchFamily="66" charset="0"/>
              </a:rPr>
              <a:t>Agent</a:t>
            </a:r>
            <a:r>
              <a:rPr kumimoji="1" lang="zh-CN" altLang="en-US" b="1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201" name="下箭头 200"/>
          <p:cNvSpPr/>
          <p:nvPr/>
        </p:nvSpPr>
        <p:spPr>
          <a:xfrm rot="16200000">
            <a:off x="6637955" y="21197740"/>
            <a:ext cx="217276" cy="348944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2" name="文本框 201"/>
          <p:cNvSpPr txBox="1"/>
          <p:nvPr/>
        </p:nvSpPr>
        <p:spPr>
          <a:xfrm>
            <a:off x="7445557" y="21177233"/>
            <a:ext cx="1806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rewrite_or_to_union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  <p:sp>
        <p:nvSpPr>
          <p:cNvPr id="203" name="文本框 202"/>
          <p:cNvSpPr txBox="1"/>
          <p:nvPr/>
        </p:nvSpPr>
        <p:spPr>
          <a:xfrm>
            <a:off x="4805349" y="21099922"/>
            <a:ext cx="1309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temp_distinct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zh-CN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or_predicate</a:t>
            </a:r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</p:txBody>
      </p:sp>
      <p:sp>
        <p:nvSpPr>
          <p:cNvPr id="204" name="文本框 203"/>
          <p:cNvSpPr txBox="1"/>
          <p:nvPr/>
        </p:nvSpPr>
        <p:spPr>
          <a:xfrm>
            <a:off x="4118481" y="21188725"/>
            <a:ext cx="7312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Risks</a:t>
            </a:r>
            <a:endParaRPr kumimoji="1" lang="zh-CN" altLang="en-US" sz="16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6862741" y="21183702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Hints</a:t>
            </a:r>
            <a:endParaRPr kumimoji="1" lang="zh-CN" altLang="en-US" sz="16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7" name="圆角矩形 206"/>
          <p:cNvSpPr/>
          <p:nvPr/>
        </p:nvSpPr>
        <p:spPr>
          <a:xfrm>
            <a:off x="4127025" y="22052111"/>
            <a:ext cx="5530626" cy="3535015"/>
          </a:xfrm>
          <a:prstGeom prst="roundRect">
            <a:avLst>
              <a:gd name="adj" fmla="val 494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8" name="文本框 207"/>
          <p:cNvSpPr txBox="1"/>
          <p:nvPr/>
        </p:nvSpPr>
        <p:spPr>
          <a:xfrm>
            <a:off x="9768048" y="23304420"/>
            <a:ext cx="1733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SQL Rewriter</a:t>
            </a:r>
          </a:p>
          <a:p>
            <a:r>
              <a:rPr kumimoji="1" lang="en-US" altLang="zh-CN" b="1" dirty="0">
                <a:latin typeface="Comic Sans MS" panose="030F0702030302020204" pitchFamily="66" charset="0"/>
              </a:rPr>
              <a:t>Agent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4224242" y="22101286"/>
            <a:ext cx="947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no RAG</a:t>
            </a:r>
            <a:endParaRPr kumimoji="1" lang="zh-CN" altLang="en-US" sz="16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211" name="图片 2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8274" y="22652767"/>
            <a:ext cx="762861" cy="762861"/>
          </a:xfrm>
          <a:prstGeom prst="rect">
            <a:avLst/>
          </a:prstGeom>
        </p:spPr>
      </p:pic>
      <p:sp>
        <p:nvSpPr>
          <p:cNvPr id="212" name="下箭头 211"/>
          <p:cNvSpPr/>
          <p:nvPr/>
        </p:nvSpPr>
        <p:spPr>
          <a:xfrm rot="16200000">
            <a:off x="3990714" y="22748995"/>
            <a:ext cx="176444" cy="731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3" name="文本框 212"/>
          <p:cNvSpPr txBox="1"/>
          <p:nvPr/>
        </p:nvSpPr>
        <p:spPr>
          <a:xfrm>
            <a:off x="2560515" y="23414114"/>
            <a:ext cx="130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Knowledge</a:t>
            </a:r>
          </a:p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Base</a:t>
            </a:r>
          </a:p>
        </p:txBody>
      </p:sp>
      <p:sp>
        <p:nvSpPr>
          <p:cNvPr id="214" name="文本框 213"/>
          <p:cNvSpPr txBox="1"/>
          <p:nvPr/>
        </p:nvSpPr>
        <p:spPr>
          <a:xfrm>
            <a:off x="3628056" y="22782560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b="1" dirty="0">
                <a:latin typeface="Comic Sans MS" panose="030F0702030302020204" pitchFamily="66" charset="0"/>
              </a:rPr>
              <a:t>Samples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3813885" y="230059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❌</a:t>
            </a:r>
            <a:endParaRPr kumimoji="1" lang="zh-CN" altLang="en-US" dirty="0"/>
          </a:p>
        </p:txBody>
      </p:sp>
      <p:sp>
        <p:nvSpPr>
          <p:cNvPr id="216" name="文本框 215"/>
          <p:cNvSpPr txBox="1"/>
          <p:nvPr/>
        </p:nvSpPr>
        <p:spPr>
          <a:xfrm>
            <a:off x="4315745" y="22443823"/>
            <a:ext cx="515318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b.bond_type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FROM atom a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JOIN connected c 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ON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c.atom_id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a.atom_id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JOIN bond b ON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b.bond_id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c.bond_id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a.element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'cl'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UNION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b.bond_type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FROM atom a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JOIN connected c </a:t>
            </a: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   ON c.atom_id2 =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a.atom_id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JOIN bond b ON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b.bond_id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c.bond_id</a:t>
            </a:r>
            <a:endParaRPr lang="en-GB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WHERE </a:t>
            </a:r>
            <a:r>
              <a:rPr lang="en-GB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a.element</a:t>
            </a:r>
            <a:r>
              <a:rPr lang="en-GB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= 'cl';</a:t>
            </a:r>
            <a:endParaRPr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8767588" y="20762129"/>
            <a:ext cx="833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600" b="1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Freeze</a:t>
            </a:r>
            <a:endParaRPr kumimoji="1" lang="zh-CN" altLang="en-US" sz="1600" b="1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9757876" y="25952419"/>
            <a:ext cx="1949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Validator Agent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6078982" y="27225085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Final Output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236" name="文本框 235"/>
          <p:cNvSpPr txBox="1"/>
          <p:nvPr/>
        </p:nvSpPr>
        <p:spPr>
          <a:xfrm>
            <a:off x="4819651" y="25956062"/>
            <a:ext cx="1895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Cost</a:t>
            </a:r>
            <a:r>
              <a:rPr kumimoji="1" lang="zh-CN" altLang="en-US" b="1" dirty="0">
                <a:latin typeface="Comic Sans MS" panose="030F0702030302020204" pitchFamily="66" charset="0"/>
              </a:rPr>
              <a:t> </a:t>
            </a:r>
            <a:r>
              <a:rPr kumimoji="1" lang="en-US" altLang="zh-CN" b="1" dirty="0">
                <a:solidFill>
                  <a:schemeClr val="accent6"/>
                </a:solidFill>
                <a:latin typeface="Comic Sans MS" panose="030F0702030302020204" pitchFamily="66" charset="0"/>
              </a:rPr>
              <a:t>Converged</a:t>
            </a:r>
            <a:endParaRPr kumimoji="1" lang="zh-CN" altLang="en-US" b="1" dirty="0">
              <a:solidFill>
                <a:schemeClr val="accent6"/>
              </a:solidFill>
              <a:latin typeface="Comic Sans MS" panose="030F0702030302020204" pitchFamily="66" charset="0"/>
            </a:endParaRPr>
          </a:p>
        </p:txBody>
      </p:sp>
      <p:sp>
        <p:nvSpPr>
          <p:cNvPr id="237" name="圆角矩形 236"/>
          <p:cNvSpPr/>
          <p:nvPr/>
        </p:nvSpPr>
        <p:spPr>
          <a:xfrm>
            <a:off x="4115084" y="25794474"/>
            <a:ext cx="5530626" cy="648006"/>
          </a:xfrm>
          <a:prstGeom prst="roundRect">
            <a:avLst>
              <a:gd name="adj" fmla="val 494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8" name="文本框 237"/>
          <p:cNvSpPr txBox="1"/>
          <p:nvPr/>
        </p:nvSpPr>
        <p:spPr>
          <a:xfrm>
            <a:off x="7886508" y="25956062"/>
            <a:ext cx="1027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mic Sans MS" panose="030F0702030302020204" pitchFamily="66" charset="0"/>
              </a:rPr>
              <a:t>EX</a:t>
            </a:r>
            <a:r>
              <a:rPr kumimoji="1" lang="zh-CN" altLang="en-US" b="1" dirty="0">
                <a:latin typeface="Comic Sans MS" panose="030F0702030302020204" pitchFamily="66" charset="0"/>
              </a:rPr>
              <a:t> </a:t>
            </a:r>
            <a:r>
              <a:rPr kumimoji="1" lang="en-US" altLang="zh-CN" b="1" dirty="0">
                <a:solidFill>
                  <a:schemeClr val="accent6"/>
                </a:solidFill>
                <a:latin typeface="Comic Sans MS" panose="030F0702030302020204" pitchFamily="66" charset="0"/>
              </a:rPr>
              <a:t>Pass</a:t>
            </a:r>
            <a:endParaRPr kumimoji="1" lang="zh-CN" altLang="en-US" b="1" dirty="0">
              <a:solidFill>
                <a:schemeClr val="accent6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39" name="组合 238"/>
          <p:cNvGrpSpPr/>
          <p:nvPr/>
        </p:nvGrpSpPr>
        <p:grpSpPr>
          <a:xfrm>
            <a:off x="146617" y="21955691"/>
            <a:ext cx="1882247" cy="1929600"/>
            <a:chOff x="830517" y="2048933"/>
            <a:chExt cx="1882247" cy="1924798"/>
          </a:xfrm>
        </p:grpSpPr>
        <p:sp>
          <p:nvSpPr>
            <p:cNvPr id="240" name="文本框 239"/>
            <p:cNvSpPr txBox="1"/>
            <p:nvPr/>
          </p:nvSpPr>
          <p:spPr>
            <a:xfrm>
              <a:off x="830517" y="3327400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b="1" dirty="0">
                  <a:latin typeface="Comic Sans MS" panose="030F0702030302020204" pitchFamily="66" charset="0"/>
                </a:rPr>
                <a:t>Meta-Cognitive</a:t>
              </a:r>
            </a:p>
            <a:p>
              <a:pPr algn="ctr"/>
              <a:r>
                <a:rPr kumimoji="1" lang="en-US" altLang="zh-CN" b="1" dirty="0">
                  <a:latin typeface="Comic Sans MS" panose="030F0702030302020204" pitchFamily="66" charset="0"/>
                </a:rPr>
                <a:t> Controller</a:t>
              </a:r>
              <a:endParaRPr kumimoji="1" lang="zh-CN" altLang="en-US" b="1" dirty="0">
                <a:latin typeface="Comic Sans MS" panose="030F0702030302020204" pitchFamily="66" charset="0"/>
              </a:endParaRPr>
            </a:p>
          </p:txBody>
        </p:sp>
        <p:pic>
          <p:nvPicPr>
            <p:cNvPr id="241" name="图片 2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6640" y="2048933"/>
              <a:ext cx="1270000" cy="1270000"/>
            </a:xfrm>
            <a:prstGeom prst="rect">
              <a:avLst/>
            </a:prstGeom>
          </p:spPr>
        </p:pic>
      </p:grpSp>
      <p:cxnSp>
        <p:nvCxnSpPr>
          <p:cNvPr id="242" name="直线箭头连接符 241"/>
          <p:cNvCxnSpPr/>
          <p:nvPr/>
        </p:nvCxnSpPr>
        <p:spPr>
          <a:xfrm>
            <a:off x="1062498" y="14470302"/>
            <a:ext cx="607" cy="7203658"/>
          </a:xfrm>
          <a:prstGeom prst="straightConnector1">
            <a:avLst/>
          </a:prstGeom>
          <a:ln>
            <a:solidFill>
              <a:srgbClr val="D4237A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5" name="文本框 244"/>
          <p:cNvSpPr txBox="1"/>
          <p:nvPr/>
        </p:nvSpPr>
        <p:spPr>
          <a:xfrm>
            <a:off x="2573859" y="25759276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Convergence</a:t>
            </a:r>
          </a:p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Monitoring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pic>
        <p:nvPicPr>
          <p:cNvPr id="246" name="图片 2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104" y="25778692"/>
            <a:ext cx="301871" cy="301871"/>
          </a:xfrm>
          <a:prstGeom prst="rect">
            <a:avLst/>
          </a:prstGeom>
        </p:spPr>
      </p:pic>
      <p:cxnSp>
        <p:nvCxnSpPr>
          <p:cNvPr id="247" name="直线箭头连接符 246"/>
          <p:cNvCxnSpPr/>
          <p:nvPr/>
        </p:nvCxnSpPr>
        <p:spPr>
          <a:xfrm flipH="1">
            <a:off x="2086101" y="26094919"/>
            <a:ext cx="2061727" cy="8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直线连接符 247"/>
          <p:cNvCxnSpPr/>
          <p:nvPr/>
        </p:nvCxnSpPr>
        <p:spPr>
          <a:xfrm>
            <a:off x="4082400" y="26855915"/>
            <a:ext cx="56605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下箭头 248"/>
          <p:cNvSpPr/>
          <p:nvPr/>
        </p:nvSpPr>
        <p:spPr>
          <a:xfrm>
            <a:off x="6635834" y="26343719"/>
            <a:ext cx="276835" cy="8261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53" name="组合 252"/>
          <p:cNvGrpSpPr/>
          <p:nvPr/>
        </p:nvGrpSpPr>
        <p:grpSpPr>
          <a:xfrm>
            <a:off x="2449119" y="26464731"/>
            <a:ext cx="1393330" cy="732725"/>
            <a:chOff x="2454993" y="12266687"/>
            <a:chExt cx="1393330" cy="732725"/>
          </a:xfrm>
        </p:grpSpPr>
        <p:sp>
          <p:nvSpPr>
            <p:cNvPr id="254" name="文本框 253"/>
            <p:cNvSpPr txBox="1"/>
            <p:nvPr/>
          </p:nvSpPr>
          <p:spPr>
            <a:xfrm>
              <a:off x="2578424" y="12691635"/>
              <a:ext cx="116730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Max Iteration</a:t>
              </a:r>
            </a:p>
          </p:txBody>
        </p:sp>
        <p:sp>
          <p:nvSpPr>
            <p:cNvPr id="255" name="文本框 254"/>
            <p:cNvSpPr txBox="1"/>
            <p:nvPr/>
          </p:nvSpPr>
          <p:spPr>
            <a:xfrm>
              <a:off x="2454993" y="12266687"/>
              <a:ext cx="13933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b="1" dirty="0">
                  <a:latin typeface="Comic Sans MS" panose="030F0702030302020204" pitchFamily="66" charset="0"/>
                </a:rPr>
                <a:t>Adaptation</a:t>
              </a:r>
            </a:p>
          </p:txBody>
        </p:sp>
      </p:grpSp>
      <p:cxnSp>
        <p:nvCxnSpPr>
          <p:cNvPr id="256" name="直线箭头连接符 255"/>
          <p:cNvCxnSpPr/>
          <p:nvPr/>
        </p:nvCxnSpPr>
        <p:spPr>
          <a:xfrm flipV="1">
            <a:off x="2047631" y="26852158"/>
            <a:ext cx="2012444" cy="2341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88918BB-C4E4-45EA-A60C-89EB870CA841}"/>
              </a:ext>
            </a:extLst>
          </p:cNvPr>
          <p:cNvSpPr txBox="1"/>
          <p:nvPr/>
        </p:nvSpPr>
        <p:spPr>
          <a:xfrm>
            <a:off x="5151782" y="22055609"/>
            <a:ext cx="2301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rewrite_or_to_union</a:t>
            </a:r>
            <a:endParaRPr lang="en-US" altLang="zh-CN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" name="下箭头 223"/>
          <p:cNvSpPr/>
          <p:nvPr/>
        </p:nvSpPr>
        <p:spPr>
          <a:xfrm>
            <a:off x="6673431" y="25520234"/>
            <a:ext cx="217276" cy="348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6" name="下箭头 205"/>
          <p:cNvSpPr/>
          <p:nvPr/>
        </p:nvSpPr>
        <p:spPr>
          <a:xfrm>
            <a:off x="6753208" y="21811687"/>
            <a:ext cx="217276" cy="3489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9C3ABE9B-89FC-FFBC-BD1F-25979C5EAB31}"/>
              </a:ext>
            </a:extLst>
          </p:cNvPr>
          <p:cNvCxnSpPr/>
          <p:nvPr/>
        </p:nvCxnSpPr>
        <p:spPr>
          <a:xfrm flipV="1">
            <a:off x="1954576" y="22365890"/>
            <a:ext cx="2163268" cy="489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9AD7438-209A-1DD1-BE00-7D86ADE91AF7}"/>
              </a:ext>
            </a:extLst>
          </p:cNvPr>
          <p:cNvSpPr txBox="1"/>
          <p:nvPr/>
        </p:nvSpPr>
        <p:spPr>
          <a:xfrm>
            <a:off x="2472019" y="22046684"/>
            <a:ext cx="1298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b="1" dirty="0">
                <a:latin typeface="Comic Sans MS" panose="030F0702030302020204" pitchFamily="66" charset="0"/>
              </a:rPr>
              <a:t>Reflection</a:t>
            </a:r>
            <a:endParaRPr kumimoji="1" lang="zh-CN" altLang="en-US" b="1" dirty="0">
              <a:latin typeface="Comic Sans MS" panose="030F0702030302020204" pitchFamily="66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B7EF88-1096-68EC-4345-78D3CB5E8263}"/>
              </a:ext>
            </a:extLst>
          </p:cNvPr>
          <p:cNvSpPr txBox="1"/>
          <p:nvPr/>
        </p:nvSpPr>
        <p:spPr>
          <a:xfrm>
            <a:off x="2535549" y="22378823"/>
            <a:ext cx="11448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11</TotalTime>
  <Words>585</Words>
  <Application>Microsoft Macintosh PowerPoint</Application>
  <PresentationFormat>自定义</PresentationFormat>
  <Paragraphs>160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黑体</vt:lpstr>
      <vt:lpstr>Arial</vt:lpstr>
      <vt:lpstr>Calibri</vt:lpstr>
      <vt:lpstr>Calibri Light</vt:lpstr>
      <vt:lpstr>Comic Sans MS</vt:lpstr>
      <vt:lpstr>Consolas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韵沨 沈</dc:creator>
  <cp:lastModifiedBy>韵沨 沈</cp:lastModifiedBy>
  <cp:revision>20</cp:revision>
  <dcterms:created xsi:type="dcterms:W3CDTF">2026-06-24T00:33:00Z</dcterms:created>
  <dcterms:modified xsi:type="dcterms:W3CDTF">2026-06-30T02:51:06Z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5E44E2C9A6EF4BC0AB4E478B0D705BCA_12</vt:lpwstr>
  </property>
</Properties>
</file>